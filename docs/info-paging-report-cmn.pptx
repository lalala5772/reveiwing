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7ac92410-98d0-6cfe-4401-f0efe5706739}">
          <p14:sldIdLst>
            <p14:sldId id="256"/>
            <p14:sldId id="257"/>
            <p14:sldId id="258"/>
            <p14:sldId id="259"/>
            <p14:sldId id="260"/>
          </p14:sldIdLst>
        </p14:section>
        <p14:section name="변경 상세" id="{99cbc64a-6de8-360a-f1fd-2a1c2492df95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검증 및 회고" id="{d2494b6b-355e-c38c-6928-c071e224b147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재정정보 게시판의 탭(업무추진비 / 그 외 기타정보) 페이징 문제를 서버 페이징 방식으로 개선한 코드 변경사항 보고입니다.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재정정보 탭 페이징 개선 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재정정보 탭 페이징 개선 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재정정보 탭 페이징 개선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코드 변경사항 보고 (CmnController 방식)  ·  info.jsp / CmnController / NotificationController / MngNotificationService / Mapper SQL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개선 요약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탭 분기와 페이징을 클라이언트에서 DB(SQL)로 옮겨, 현재 페이지 분량과 탭별 건수만 조회</a:t>
            </a:r>
            <a:endParaRPr lang="en-US" sz="1500" dirty="0"/>
          </a:p>
        </p:txBody>
      </p:sp>
      <p:sp>
        <p:nvSpPr>
          <p:cNvPr id="4" name="card-problem-bg"/>
          <p:cNvSpPr/>
          <p:nvPr/>
        </p:nvSpPr>
        <p:spPr>
          <a:xfrm>
            <a:off x="548640" y="173736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problem-dot"/>
          <p:cNvSpPr/>
          <p:nvPr/>
        </p:nvSpPr>
        <p:spPr>
          <a:xfrm>
            <a:off x="777240" y="19842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ard-problem-head"/>
          <p:cNvSpPr txBox="1"/>
          <p:nvPr/>
        </p:nvSpPr>
        <p:spPr>
          <a:xfrm>
            <a:off x="1097280" y="187452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기존 문제</a:t>
            </a:r>
            <a:endParaRPr lang="en-US" sz="1800" dirty="0"/>
          </a:p>
        </p:txBody>
      </p:sp>
      <p:sp>
        <p:nvSpPr>
          <p:cNvPr id="7" name="card-problem-body"/>
          <p:cNvSpPr txBox="1"/>
          <p:nvPr/>
        </p:nvSpPr>
        <p:spPr>
          <a:xfrm>
            <a:off x="777240" y="2377440"/>
            <a:ext cx="310377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목록을 그리기 위해 모든 페이지를 순차 요청 (공통 complete 를 가로채 반복 호출)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받은 전체 목록을 화면에서 제목 키워드로 탭 분류, slice 로 페이징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탭을 바꿔도 "총 N건"은 재정정보 전체 건수 그대로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→ 목록 복귀 시 탭·페이지 초기화</a:t>
            </a:r>
            <a:endParaRPr lang="en-US" sz="1600" dirty="0"/>
          </a:p>
        </p:txBody>
      </p:sp>
      <p:sp>
        <p:nvSpPr>
          <p:cNvPr id="8" name="card-solution-bg"/>
          <p:cNvSpPr/>
          <p:nvPr/>
        </p:nvSpPr>
        <p:spPr>
          <a:xfrm>
            <a:off x="4338218" y="173736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solution-dot"/>
          <p:cNvSpPr/>
          <p:nvPr/>
        </p:nvSpPr>
        <p:spPr>
          <a:xfrm>
            <a:off x="4566818" y="19842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solution-head"/>
          <p:cNvSpPr txBox="1"/>
          <p:nvPr/>
        </p:nvSpPr>
        <p:spPr>
          <a:xfrm>
            <a:off x="4886858" y="187452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해결 방식</a:t>
            </a:r>
            <a:endParaRPr lang="en-US" sz="1800" dirty="0"/>
          </a:p>
        </p:txBody>
      </p:sp>
      <p:sp>
        <p:nvSpPr>
          <p:cNvPr id="11" name="card-solution-body"/>
          <p:cNvSpPr txBox="1"/>
          <p:nvPr/>
        </p:nvSpPr>
        <p:spPr>
          <a:xfrm>
            <a:off x="4566818" y="2377440"/>
            <a:ext cx="310377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값(tab)을 #searchForm hidden 으로 서버에 전달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공통 목록·건수 API(CmnController)에 tab 전달 1줄씩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서비스가 tab 을 매퍼 파라미터로 전달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 에서 탭 조건 + 기존 페이징 적용</a:t>
            </a:r>
            <a:endParaRPr lang="en-US" sz="1600" dirty="0"/>
          </a:p>
        </p:txBody>
      </p:sp>
      <p:sp>
        <p:nvSpPr>
          <p:cNvPr id="12" name="card-result-bg"/>
          <p:cNvSpPr/>
          <p:nvPr/>
        </p:nvSpPr>
        <p:spPr>
          <a:xfrm>
            <a:off x="8127797" y="173736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result-dot"/>
          <p:cNvSpPr/>
          <p:nvPr/>
        </p:nvSpPr>
        <p:spPr>
          <a:xfrm>
            <a:off x="8356397" y="198424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card-result-head"/>
          <p:cNvSpPr txBox="1"/>
          <p:nvPr/>
        </p:nvSpPr>
        <p:spPr>
          <a:xfrm>
            <a:off x="8676437" y="187452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결과</a:t>
            </a:r>
            <a:endParaRPr lang="en-US" sz="1800" dirty="0"/>
          </a:p>
        </p:txBody>
      </p:sp>
      <p:sp>
        <p:nvSpPr>
          <p:cNvPr id="15" name="card-result-body"/>
          <p:cNvSpPr txBox="1"/>
          <p:nvPr/>
        </p:nvSpPr>
        <p:spPr>
          <a:xfrm>
            <a:off x="8356397" y="2377440"/>
            <a:ext cx="310377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현재 페이지 분량만 조회 (진입·탭 전환 2회, 페이지 이동 1회 요청)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탭별 목록 · 총 N건 · 페이지 번호 · 순번 일치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→ 목록 복귀 시 탭·페이지 유지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별도 API 없이 공통 경로 재사용, board.js · paging.js 변경 없음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최종 구조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클라이언트 탭 요청 → Controller → Service → Mapper SQL → Controller 가 현재 페이지 반환</a:t>
            </a:r>
            <a:endParaRPr lang="en-US" sz="1500" dirty="0"/>
          </a:p>
        </p:txBody>
      </p:sp>
      <p:pic>
        <p:nvPicPr>
          <p:cNvPr id="4" name="flow-image" descr="재정정보 탭 페이징 최종 구조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42555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변경 파일 한눈에 보기</a:t>
            </a:r>
            <a:endParaRPr lang="en-US" sz="3000" dirty="0"/>
          </a:p>
        </p:txBody>
      </p:sp>
      <p:graphicFrame>
        <p:nvGraphicFramePr>
          <p:cNvPr id="5" name="fi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6217920"/>
                <a:gridCol w="1310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변경 내용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info.jsp / info_view.jsp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#searchForm 에 hidden tab 추가 (seCd 0002 확인), 탭 class 동적 표시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info.jsp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기존 IIFE 스크립트 주석처리 → getBoardData(공통 URL) 신규 스크립트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교체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NotificationController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info.do / info_view.do 에 model tab 전달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CmnController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boardListFile.do / boardListCnt.do 에 tab 전달 (1줄씩)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MngNotificationService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selectBoardListWithFile 등 조회 파라미터에 tab 전달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MngNotification SQL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목록·COUNT 쿼리에 &lt;if&gt; 탭 분기 조건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board.js · paging.js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공통 스크립트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변경 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방식 비교 : 전용 API vs CmnController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두 방식 모두 SQL 에서 탭 분기 · 페이징 — 차이는 tab 을 받는 Controller 위치</a:t>
            </a:r>
            <a:endParaRPr lang="en-US" sz="1500" dirty="0"/>
          </a:p>
        </p:txBody>
      </p:sp>
      <p:graphicFrame>
        <p:nvGraphicFramePr>
          <p:cNvPr id="6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73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전용 API 방식 (이전)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CmnController 방식 (채택)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Controller 변경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NotificationController 에 공통 메서드 복사본 2개 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CmnController 공통 메서드에 1줄씩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코드 중복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공통 코드 복사본 유지 필요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JSP 스크립트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url · urlCount 로 전용 API 지정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board.js 기본 URL 사용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seCd 처리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 에서 0002 고정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화면 hidden seCd(0002) 그대로 사용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다른 게시판 영향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 미전송 → 조건 미적용 (회귀 테스트로 확인)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유지보수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공통 변경 시 복사본도 함께 수정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한 곳만 관리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JSP : #searchForm 에 tab 값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info.jsp · info_view.jsp 의 #searchForm 안에 hidden tab 을 추가 (name·id 모두 tab)</a:t>
            </a:r>
            <a:endParaRPr lang="en-US" sz="1500" dirty="0"/>
          </a:p>
        </p:txBody>
      </p:sp>
      <p:sp>
        <p:nvSpPr>
          <p:cNvPr id="6" name="code-form"/>
          <p:cNvSpPr/>
          <p:nvPr/>
        </p:nvSpPr>
        <p:spPr>
          <a:xfrm>
            <a:off x="548640" y="2057400"/>
            <a:ext cx="6400800" cy="2331720"/>
          </a:xfrm>
          <a:prstGeom prst="roundRect">
            <a:avLst>
              <a:gd name="adj" fmla="val 313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form-text"/>
          <p:cNvSpPr txBox="1"/>
          <p:nvPr/>
        </p:nvSpPr>
        <p:spPr>
          <a:xfrm>
            <a:off x="640080" y="2130552"/>
            <a:ext cx="6217920" cy="2185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id="searchForm" method="POST"&gt;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type="hidden" name="page" id="page" value="1"&gt;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&lt;%-- seCd 값 0002 확인 --%&gt;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type="hidden" name="seCd" id="seCd" value="0002"&gt;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&lt;%-- [추가] 현재 탭 --%&gt;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type="hidden" name="tab" id="tab"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value="&lt;c:out value='${tab}'/&gt;"&gt;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8" name="code-form-label"/>
          <p:cNvSpPr txBox="1"/>
          <p:nvPr/>
        </p:nvSpPr>
        <p:spPr>
          <a:xfrm>
            <a:off x="548640" y="17282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info.jsp / info_view.jsp</a:t>
            </a:r>
            <a:endParaRPr lang="en-US" sz="1300" dirty="0"/>
          </a:p>
        </p:txBody>
      </p:sp>
      <p:sp>
        <p:nvSpPr>
          <p:cNvPr id="9" name="code-tab"/>
          <p:cNvSpPr/>
          <p:nvPr/>
        </p:nvSpPr>
        <p:spPr>
          <a:xfrm>
            <a:off x="548640" y="4800600"/>
            <a:ext cx="640080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ode-tab-text"/>
          <p:cNvSpPr txBox="1"/>
          <p:nvPr/>
        </p:nvSpPr>
        <p:spPr>
          <a:xfrm>
            <a:off x="640080" y="4873752"/>
            <a:ext cx="6217920" cy="1225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 data-tab="biz" class="${tab eq 'etc' ? '' : 'current'}"&gt;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href="javascript:void(0)"&gt;업무추진비&lt;/a&gt;&lt;/li&gt;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 data-tab="etc" class="${tab eq 'etc' ? 'current' : ''}"&gt;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href="javascript:void(0)"&gt;그 외 기타정보&lt;/a&gt;&lt;/li&gt;</a:t>
            </a:r>
            <a:endParaRPr lang="en-US" sz="1200" dirty="0"/>
          </a:p>
        </p:txBody>
      </p:sp>
      <p:sp>
        <p:nvSpPr>
          <p:cNvPr id="11" name="code-tab-label"/>
          <p:cNvSpPr txBox="1"/>
          <p:nvPr/>
        </p:nvSpPr>
        <p:spPr>
          <a:xfrm>
            <a:off x="548640" y="44714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info.jsp 탭 마크업 : 서버 값으로 current 지정 (필수)</a:t>
            </a:r>
            <a:endParaRPr lang="en-US" sz="1300" dirty="0"/>
          </a:p>
        </p:txBody>
      </p:sp>
      <p:sp>
        <p:nvSpPr>
          <p:cNvPr id="12" name="notes-jsp"/>
          <p:cNvSpPr txBox="1"/>
          <p:nvPr/>
        </p:nvSpPr>
        <p:spPr>
          <a:xfrm>
            <a:off x="7315200" y="2057400"/>
            <a:ext cx="43278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board.js 는 #searchForm 안의 input 전체를 요청에 실어 보냄 → tab 이 자동 전송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반드시 #searchForm 안에 위치해야 함 (폼 밖이면 전송되지 않음)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공통 API 는 화면의 seCd 를 그대로 사용 → hidden seCd 가 0002 인지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탭 class 를 서버 값으로 지정하지 않으면 상세 → 목록 복귀 시 표시와 실제 탭이 어긋남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info_view.jsp 는 hidden tab 1줄만 추가 (목록 스크립트 없음)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Script : 기존 로직의 문제와 수정 로직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기존 (function(){ ... })(); 블록을 주석처리하고 공통 getBoardData 를 본래 용도대로 사용</a:t>
            </a:r>
            <a:endParaRPr lang="en-US" sz="1500" dirty="0"/>
          </a:p>
        </p:txBody>
      </p:sp>
      <p:sp>
        <p:nvSpPr>
          <p:cNvPr id="6" name="card-old-bg"/>
          <p:cNvSpPr/>
          <p:nvPr/>
        </p:nvSpPr>
        <p:spPr>
          <a:xfrm>
            <a:off x="548640" y="1737360"/>
            <a:ext cx="5364328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old-dot"/>
          <p:cNvSpPr/>
          <p:nvPr/>
        </p:nvSpPr>
        <p:spPr>
          <a:xfrm>
            <a:off x="777240" y="19842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ard-old-head"/>
          <p:cNvSpPr txBox="1"/>
          <p:nvPr/>
        </p:nvSpPr>
        <p:spPr>
          <a:xfrm>
            <a:off x="1097280" y="18745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기존 스크립트의 문제</a:t>
            </a:r>
            <a:endParaRPr lang="en-US" sz="1800" dirty="0"/>
          </a:p>
        </p:txBody>
      </p:sp>
      <p:sp>
        <p:nvSpPr>
          <p:cNvPr id="9" name="card-old-body"/>
          <p:cNvSpPr txBox="1"/>
          <p:nvPr/>
        </p:nvSpPr>
        <p:spPr>
          <a:xfrm>
            <a:off x="777240" y="2377440"/>
            <a:ext cx="495284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loadAllPages : complete 콜백을 가로채 setPage 로 전체 페이지를 순차 요청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classify : 받은 전체 목록을 제목의 "업무추진비" 포함 여부로 클라이언트 분류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render / renderPaging : slice 로 화면 페이징, 탭별 별도 페이징 함수 (goPaging_PagingViewBiz / Etc)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#totCnt 를 갱신하지 않아 "총 N건"이 전체 건수로 고정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상태를 서버에 남기지 않아 상세 → 목록 복귀 시 초기화</a:t>
            </a:r>
            <a:endParaRPr lang="en-US" sz="1600" dirty="0"/>
          </a:p>
        </p:txBody>
      </p:sp>
      <p:sp>
        <p:nvSpPr>
          <p:cNvPr id="10" name="card-new-bg"/>
          <p:cNvSpPr/>
          <p:nvPr/>
        </p:nvSpPr>
        <p:spPr>
          <a:xfrm>
            <a:off x="6278728" y="1737360"/>
            <a:ext cx="5364328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new-dot"/>
          <p:cNvSpPr/>
          <p:nvPr/>
        </p:nvSpPr>
        <p:spPr>
          <a:xfrm>
            <a:off x="6507328" y="19842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d-new-head"/>
          <p:cNvSpPr txBox="1"/>
          <p:nvPr/>
        </p:nvSpPr>
        <p:spPr>
          <a:xfrm>
            <a:off x="6827368" y="18745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수정 스크립트 로직</a:t>
            </a:r>
            <a:endParaRPr lang="en-US" sz="1800" dirty="0"/>
          </a:p>
        </p:txBody>
      </p:sp>
      <p:sp>
        <p:nvSpPr>
          <p:cNvPr id="13" name="card-new-body"/>
          <p:cNvSpPr txBox="1"/>
          <p:nvPr/>
        </p:nvSpPr>
        <p:spPr>
          <a:xfrm>
            <a:off x="6507328" y="2377440"/>
            <a:ext cx="495284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getBoardData 는 url 지정 없이 board.js 기본 공통 API 사용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최초 진입 : boardList.getList() → 목록 1회 + 건수 1회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클릭 : #tab 값 변경 + page 1 → getList({type:"search"}) 로 건수까지 재조회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건수 응답으로 board.js 가 #totCnt · 페이지 번호 · 순번을 함께 갱신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페이지 이동 : goPaging_PagingView → setPage (목록만 재조회)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Script : 수정 코드 (info.jsp)</a:t>
            </a:r>
            <a:endParaRPr lang="en-US" sz="3000" dirty="0"/>
          </a:p>
        </p:txBody>
      </p:sp>
      <p:sp>
        <p:nvSpPr>
          <p:cNvPr id="5" name="code-script"/>
          <p:cNvSpPr/>
          <p:nvPr/>
        </p:nvSpPr>
        <p:spPr>
          <a:xfrm>
            <a:off x="548640" y="1188720"/>
            <a:ext cx="7498080" cy="5029200"/>
          </a:xfrm>
          <a:prstGeom prst="roundRect">
            <a:avLst>
              <a:gd name="adj" fmla="val 145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-script-text"/>
          <p:cNvSpPr txBox="1"/>
          <p:nvPr/>
        </p:nvSpPr>
        <p:spPr>
          <a:xfrm>
            <a:off x="640080" y="1261872"/>
            <a:ext cx="7315200" cy="4882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boardList, viewLink;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goPaging_PagingView = function (cPage) { boardList.setPage(cPage);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jQuery(function 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$tabs = $('.link_tab li[data-tab]');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boardList = new getBoardData({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url · urlCount 미지정 → /cmn/board/boardListFile.do · boardListCnt.do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viewer:   '/kor/notification/info_view.do',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complete: function (data)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$('#list').html(boardOutputList('textBoard', data.result));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viewLink = function (id) { boardList.viewLink(id);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boardList.getList();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$tabs.on('click', 'a', function (e)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e.preventDefault();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$li = $(this).parent(), tab = $li.data('tab');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(tab === $('#tab').val())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$tabs.removeClass('current').children('a').removeAttr('title');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$li.addClass('current').children('a').attr('title', '현재 페이지');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$('#tab').val(tab);  $('#page').val(1);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boardList.getList({ type: 'search' });   // 건수도 재조회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검색(#boardSearchForm) · 보기 개수(#btnPage) 이벤트는 기존과 동일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notes-script"/>
          <p:cNvSpPr txBox="1"/>
          <p:nvPr/>
        </p:nvSpPr>
        <p:spPr>
          <a:xfrm>
            <a:off x="8412480" y="1188720"/>
            <a:ext cx="323057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url · urlCount 미지정 : board.js 기본 공통 API 가 #searchForm(tab, seCd 포함)을 그대로 전송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탭 클릭 시 setPage(1) 대신 #page 를 직접 바꾸고 getList 호출 : setPage 는 내부 값으로 폼을 덮어써 tab 이 이전 값으로 돌아감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type:"search" 일 때만 board.js 가 건수를 다시 요청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검색 셀렉트 · 검색어 지우기 스크립트는 주석 밖에 유지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Controller : info.do · info_view.do 탭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NotificationController 의 두 화면 메서드에 1줄씩 추가</a:t>
            </a:r>
            <a:endParaRPr lang="en-US" sz="1500" dirty="0"/>
          </a:p>
        </p:txBody>
      </p:sp>
      <p:sp>
        <p:nvSpPr>
          <p:cNvPr id="6" name="code-infodo"/>
          <p:cNvSpPr/>
          <p:nvPr/>
        </p:nvSpPr>
        <p:spPr>
          <a:xfrm>
            <a:off x="548640" y="1828800"/>
            <a:ext cx="676656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infodo-text"/>
          <p:cNvSpPr txBox="1"/>
          <p:nvPr/>
        </p:nvSpPr>
        <p:spPr>
          <a:xfrm>
            <a:off x="640080" y="1901952"/>
            <a:ext cx="658368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info.do  (목록 화면)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tab = request.getParameter("tab");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model.addAttribute("tab",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"etc".equals(tab) ? "etc" : "biz");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info_view.do  (상세 화면)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tab = request.getParameter("tab");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model.addAttribute("tab",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"etc".equals(tab) ? "etc" : "biz");</a:t>
            </a:r>
            <a:endParaRPr lang="en-US" sz="1300" dirty="0"/>
          </a:p>
        </p:txBody>
      </p:sp>
      <p:sp>
        <p:nvSpPr>
          <p:cNvPr id="8" name="flow-box-0"/>
          <p:cNvSpPr/>
          <p:nvPr/>
        </p:nvSpPr>
        <p:spPr>
          <a:xfrm>
            <a:off x="548640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-text-0"/>
          <p:cNvSpPr txBox="1"/>
          <p:nvPr/>
        </p:nvSpPr>
        <p:spPr>
          <a:xfrm>
            <a:off x="548640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info_view.jsp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#searchForm(tab, page)</a:t>
            </a:r>
            <a:endParaRPr lang="en-US" sz="1300" dirty="0"/>
          </a:p>
        </p:txBody>
      </p:sp>
      <p:sp>
        <p:nvSpPr>
          <p:cNvPr id="10" name="flow-arrow-0"/>
          <p:cNvSpPr txBox="1"/>
          <p:nvPr/>
        </p:nvSpPr>
        <p:spPr>
          <a:xfrm>
            <a:off x="2057400" y="48006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flow-box-1"/>
          <p:cNvSpPr/>
          <p:nvPr/>
        </p:nvSpPr>
        <p:spPr>
          <a:xfrm>
            <a:off x="2313432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-text-1"/>
          <p:cNvSpPr txBox="1"/>
          <p:nvPr/>
        </p:nvSpPr>
        <p:spPr>
          <a:xfrm>
            <a:off x="2313432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info.do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model tab</a:t>
            </a:r>
            <a:endParaRPr lang="en-US" sz="1300" dirty="0"/>
          </a:p>
        </p:txBody>
      </p:sp>
      <p:sp>
        <p:nvSpPr>
          <p:cNvPr id="13" name="flow-arrow-1"/>
          <p:cNvSpPr txBox="1"/>
          <p:nvPr/>
        </p:nvSpPr>
        <p:spPr>
          <a:xfrm>
            <a:off x="3822192" y="48006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flow-box-2"/>
          <p:cNvSpPr/>
          <p:nvPr/>
        </p:nvSpPr>
        <p:spPr>
          <a:xfrm>
            <a:off x="4078224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text-2"/>
          <p:cNvSpPr txBox="1"/>
          <p:nvPr/>
        </p:nvSpPr>
        <p:spPr>
          <a:xfrm>
            <a:off x="4078224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info.jsp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hidden tab</a:t>
            </a:r>
            <a:endParaRPr lang="en-US" sz="1300" dirty="0"/>
          </a:p>
        </p:txBody>
      </p:sp>
      <p:sp>
        <p:nvSpPr>
          <p:cNvPr id="16" name="flow-arrow-2"/>
          <p:cNvSpPr txBox="1"/>
          <p:nvPr/>
        </p:nvSpPr>
        <p:spPr>
          <a:xfrm>
            <a:off x="5586984" y="48006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flow-box-3"/>
          <p:cNvSpPr/>
          <p:nvPr/>
        </p:nvSpPr>
        <p:spPr>
          <a:xfrm>
            <a:off x="5843016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flow-text-3"/>
          <p:cNvSpPr txBox="1"/>
          <p:nvPr/>
        </p:nvSpPr>
        <p:spPr>
          <a:xfrm>
            <a:off x="5843016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목록 API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같은 탭·페이지 조회</a:t>
            </a:r>
            <a:endParaRPr lang="en-US" sz="1300" dirty="0"/>
          </a:p>
        </p:txBody>
      </p:sp>
      <p:sp>
        <p:nvSpPr>
          <p:cNvPr id="19" name="notes-infodo"/>
          <p:cNvSpPr txBox="1"/>
          <p:nvPr/>
        </p:nvSpPr>
        <p:spPr>
          <a:xfrm>
            <a:off x="7680960" y="1828800"/>
            <a:ext cx="396209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서버가 정한 탭을 JSP hidden 과 탭 class 에 반영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허용값은 biz · etc 뿐, 그 외 값은 모두 biz (기본 탭)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상세 → 목록 복귀 시 탭과 페이지가 그대로 유지됨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CmnController : 공통 목록 · 건수 API 에 tab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화면이 호출하는 /cmn/board/boardListFile.do · boardListCnt.do 메서드에 1줄씩 추가 (별도 API 없음)</a:t>
            </a:r>
            <a:endParaRPr lang="en-US" sz="1500" dirty="0"/>
          </a:p>
        </p:txBody>
      </p:sp>
      <p:sp>
        <p:nvSpPr>
          <p:cNvPr id="6" name="code-list"/>
          <p:cNvSpPr/>
          <p:nvPr/>
        </p:nvSpPr>
        <p:spPr>
          <a:xfrm>
            <a:off x="548640" y="2057400"/>
            <a:ext cx="5760720" cy="3154680"/>
          </a:xfrm>
          <a:prstGeom prst="roundRect">
            <a:avLst>
              <a:gd name="adj" fmla="val 23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list-text"/>
          <p:cNvSpPr txBox="1"/>
          <p:nvPr/>
        </p:nvSpPr>
        <p:spPr>
          <a:xfrm>
            <a:off x="640080" y="2130552"/>
            <a:ext cx="5577840" cy="30083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CmnController : /cmn/board/boardListFile.do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... boardListFile(...) throws Exception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기존 : getParameter → params.put(...) 그대로 */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[추가]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params.put("tab", request.getParameter("tab"));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List&lt;MngBoardVO&gt; list = mngNotificationService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.selectBoardListWithFile(params);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기존 : 암호화 · SecurityUtil · result.put 그대로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code-list-label"/>
          <p:cNvSpPr txBox="1"/>
          <p:nvPr/>
        </p:nvSpPr>
        <p:spPr>
          <a:xfrm>
            <a:off x="548640" y="17282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목록 API (기존 공통 메서드)</a:t>
            </a:r>
            <a:endParaRPr lang="en-US" sz="1300" dirty="0"/>
          </a:p>
        </p:txBody>
      </p:sp>
      <p:sp>
        <p:nvSpPr>
          <p:cNvPr id="9" name="code-cnt"/>
          <p:cNvSpPr/>
          <p:nvPr/>
        </p:nvSpPr>
        <p:spPr>
          <a:xfrm>
            <a:off x="6492240" y="2057400"/>
            <a:ext cx="5150815" cy="3154680"/>
          </a:xfrm>
          <a:prstGeom prst="roundRect">
            <a:avLst>
              <a:gd name="adj" fmla="val 23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ode-cnt-text"/>
          <p:cNvSpPr txBox="1"/>
          <p:nvPr/>
        </p:nvSpPr>
        <p:spPr>
          <a:xfrm>
            <a:off x="6583680" y="2130552"/>
            <a:ext cx="4967935" cy="30083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CmnController : /cmn/board/boardListCnt.do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... boardListCnt(...) throws Exception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기존 : getParameter → params.put(...) 그대로 */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[추가]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params.put("tab", request.getParameter("tab"));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기존 : 건수 서비스 호출 · result.put 그대로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code-cnt-label"/>
          <p:cNvSpPr txBox="1"/>
          <p:nvPr/>
        </p:nvSpPr>
        <p:spPr>
          <a:xfrm>
            <a:off x="6492240" y="1728216"/>
            <a:ext cx="5150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건수 API (기존 공통 메서드)</a:t>
            </a:r>
            <a:endParaRPr lang="en-US" sz="1300" dirty="0"/>
          </a:p>
        </p:txBody>
      </p:sp>
      <p:sp>
        <p:nvSpPr>
          <p:cNvPr id="12" name="notes-api"/>
          <p:cNvSpPr txBox="1"/>
          <p:nvPr/>
        </p:nvSpPr>
        <p:spPr>
          <a:xfrm>
            <a:off x="548640" y="5349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다른 게시판은 tab 을 보내지 않음 → null → 매퍼 조건 미적용, 기존 동작 그대로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biz · etc 외의 값은 매퍼 &lt;if&gt; 에서 무시됨 / 공통 메서드 수정이므로 타 게시판 회귀 테스트 필수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메서드 복사본이 없어 공통 로직(암호화 · 보안 처리) 변경이 자동 반영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Service : selectBoardListWithFile 에 tab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MngNotificationService 가 매퍼로 넘기는 파라미터에 tab 을 추가 (목록·건수 조회)</a:t>
            </a:r>
            <a:endParaRPr lang="en-US" sz="1500" dirty="0"/>
          </a:p>
        </p:txBody>
      </p:sp>
      <p:sp>
        <p:nvSpPr>
          <p:cNvPr id="6" name="code-svc"/>
          <p:cNvSpPr/>
          <p:nvPr/>
        </p:nvSpPr>
        <p:spPr>
          <a:xfrm>
            <a:off x="548640" y="1828800"/>
            <a:ext cx="6766560" cy="192024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svc-text"/>
          <p:cNvSpPr txBox="1"/>
          <p:nvPr/>
        </p:nvSpPr>
        <p:spPr>
          <a:xfrm>
            <a:off x="640080" y="1901952"/>
            <a:ext cx="6583680" cy="1773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MngNotificationService.selectBoardListWithFile(params)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params.put("ntcnYardTySeCd", seCd);   // 기존 : 게시판 구분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[추가] 탭 → 매퍼 파라미터 (없으면 null)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params.put("tab", params.get("tab"));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...DAO.select...(params);    // 기존 : 매퍼 호출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result;</a:t>
            </a:r>
            <a:endParaRPr lang="en-US" sz="1300" dirty="0"/>
          </a:p>
        </p:txBody>
      </p:sp>
      <p:sp>
        <p:nvSpPr>
          <p:cNvPr id="8" name="card-svc-bg"/>
          <p:cNvSpPr/>
          <p:nvPr/>
        </p:nvSpPr>
        <p:spPr>
          <a:xfrm>
            <a:off x="7680960" y="1828800"/>
            <a:ext cx="3962095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svc-dot"/>
          <p:cNvSpPr/>
          <p:nvPr/>
        </p:nvSpPr>
        <p:spPr>
          <a:xfrm>
            <a:off x="7909560" y="207568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svc-head"/>
          <p:cNvSpPr txBox="1"/>
          <p:nvPr/>
        </p:nvSpPr>
        <p:spPr>
          <a:xfrm>
            <a:off x="8229600" y="196596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원인과 해결</a:t>
            </a:r>
            <a:endParaRPr lang="en-US" sz="1800" dirty="0"/>
          </a:p>
        </p:txBody>
      </p:sp>
      <p:sp>
        <p:nvSpPr>
          <p:cNvPr id="11" name="card-svc-body"/>
          <p:cNvSpPr txBox="1"/>
          <p:nvPr/>
        </p:nvSpPr>
        <p:spPr>
          <a:xfrm>
            <a:off x="7909560" y="2468880"/>
            <a:ext cx="355061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증상 : 요청에는 tab=etc 가 실렸지만 목록·건수가 전체로 조회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원인 : Controller 가 넘긴 tab 이 서비스에서 매퍼 파라미터로 전달되지 않아 SQL 조건이 항상 거짓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해결 : 서비스의 매퍼 파라미터에 tab 추가 → SQL 까지 정상 전달</a:t>
            </a:r>
            <a:endParaRPr lang="en-US" sz="1600" dirty="0"/>
          </a:p>
        </p:txBody>
      </p:sp>
      <p:sp>
        <p:nvSpPr>
          <p:cNvPr id="12" name="notes-svc"/>
          <p:cNvSpPr txBox="1"/>
          <p:nvPr/>
        </p:nvSpPr>
        <p:spPr>
          <a:xfrm>
            <a:off x="548640" y="40690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Controller · Service · Mapper 의 키 이름을 tab 으로 통일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공통 경로라 tab 이 없는 호출도 지나감 → toString() · equals() 로 null 을 다루지 않기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Mapper SQL : 탭 분기 조건 추가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해당 요청이 실제로 실행하는 목록 쿼리와 COUNT 쿼리에 동일한 &lt;if&gt; 조건 추가</a:t>
            </a:r>
            <a:endParaRPr lang="en-US" sz="1500" dirty="0"/>
          </a:p>
        </p:txBody>
      </p:sp>
      <p:sp>
        <p:nvSpPr>
          <p:cNvPr id="6" name="code-sql"/>
          <p:cNvSpPr/>
          <p:nvPr/>
        </p:nvSpPr>
        <p:spPr>
          <a:xfrm>
            <a:off x="548640" y="1828800"/>
            <a:ext cx="6766560" cy="3291840"/>
          </a:xfrm>
          <a:prstGeom prst="roundRect">
            <a:avLst>
              <a:gd name="adj" fmla="val 222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sql-text"/>
          <p:cNvSpPr txBox="1"/>
          <p:nvPr/>
        </p:nvSpPr>
        <p:spPr>
          <a:xfrm>
            <a:off x="640080" y="1901952"/>
            <a:ext cx="6583680" cy="31455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A.NTCN_YARD_TY_SE_CD = #{ntcnYardTySeCd}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 test="subSech ..."&gt; ... &lt;/if&gt;          -- 기존 검색 조건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[추가] 재정정보 탭 분기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 test='tab != null and tab == "biz"'&gt;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A.NTCN_YARD_SJ_NM LIKE '%업무추진비%'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&lt;/if&gt;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 test='tab != null and tab == "etc"'&gt;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A.NTCN_YARD_SJ_NM NOT LIKE '%업무추진비%'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&lt;/if&gt;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...</a:t>
            </a:r>
            <a:endParaRPr lang="en-US" sz="1200" dirty="0"/>
          </a:p>
        </p:txBody>
      </p:sp>
      <p:sp>
        <p:nvSpPr>
          <p:cNvPr id="8" name="notes-sql"/>
          <p:cNvSpPr txBox="1"/>
          <p:nvPr/>
        </p:nvSpPr>
        <p:spPr>
          <a:xfrm>
            <a:off x="7680960" y="1828800"/>
            <a:ext cx="3962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위치 : 게시판 테이블을 거르는 가장 안쪽 WHERE (기존 검색 조건 옆, ORDER BY · 페이징 앞)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바깥 페이징 WHERE(RN BETWEEN)에 넣으면 잘린 10건 안에서 다시 걸러져 개수가 틀어짐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목록 · COUNT 쿼리 모두 같은 조건 → 목록 · 총 N건 · 페이지 번호 일치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 이 없는 다른 게시판은 조건이 붙지 않아 영향 없음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고정 문자열 비교라 사용자 입력이 SQL 에 들어가지 않음</a:t>
            </a:r>
            <a:endParaRPr lang="en-US" sz="1400" dirty="0"/>
          </a:p>
        </p:txBody>
      </p:sp>
      <p:sp>
        <p:nvSpPr>
          <p:cNvPr id="9" name="sql-caption"/>
          <p:cNvSpPr txBox="1"/>
          <p:nvPr/>
        </p:nvSpPr>
        <p:spPr>
          <a:xfrm>
            <a:off x="548640" y="5303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A. / NTCN_YARD_SJ_NM 은 해당 쿼리의 실제 별칭 · 제목 컬럼 기준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검증 결과</a:t>
            </a:r>
            <a:endParaRPr lang="en-US" sz="3000" dirty="0"/>
          </a:p>
        </p:txBody>
      </p:sp>
      <p:graphicFrame>
        <p:nvGraphicFramePr>
          <p:cNvPr id="14" name="verif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10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시나리오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기대 결과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메뉴로 최초 진입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업무추진비 탭 1페이지, 총 N건 = 업무추진비 건수 (요청 2회)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 외 기타정보 탭 클릭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기타 목록 · 기타 건수 · 1페이지 (요청 2회)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페이지 번호 클릭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목록만 재조회 (요청 1회)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기타 탭 2페이지 → 상세 → 목록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기타 탭 표시(current) + 2페이지로 복귀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탭 안에서 검색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현재 탭 결과만 표시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요청 · SQL 로그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/cmn/board/... 요청에 tab · seCd=0002, 목록 · COUNT 쿼리에 탭 조건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공지사항 등 타 게시판 (공통 API)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목록 · 건수 기존과 동일, 탭 조건 미적용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이슈 정리와 향후 개선</a:t>
            </a:r>
            <a:endParaRPr lang="en-US" sz="3000" dirty="0"/>
          </a:p>
        </p:txBody>
      </p:sp>
      <p:sp>
        <p:nvSpPr>
          <p:cNvPr id="3" name="card-issue-bg"/>
          <p:cNvSpPr/>
          <p:nvPr/>
        </p:nvSpPr>
        <p:spPr>
          <a:xfrm>
            <a:off x="548640" y="1371600"/>
            <a:ext cx="3515258" cy="402336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issue-dot"/>
          <p:cNvSpPr/>
          <p:nvPr/>
        </p:nvSpPr>
        <p:spPr>
          <a:xfrm>
            <a:off x="777240" y="161848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rd-issue-head"/>
          <p:cNvSpPr txBox="1"/>
          <p:nvPr/>
        </p:nvSpPr>
        <p:spPr>
          <a:xfrm>
            <a:off x="1097280" y="15087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해결한 이슈</a:t>
            </a:r>
            <a:endParaRPr lang="en-US" sz="1800" dirty="0"/>
          </a:p>
        </p:txBody>
      </p:sp>
      <p:sp>
        <p:nvSpPr>
          <p:cNvPr id="6" name="card-issue-body"/>
          <p:cNvSpPr txBox="1"/>
          <p:nvPr/>
        </p:nvSpPr>
        <p:spPr>
          <a:xfrm>
            <a:off x="777240" y="2011680"/>
            <a:ext cx="31037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건수 749건 / 목록 0건 : 요청 seCd 가 비어 전체 게시판 조회 → seCd 0002 전달 확인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분기 미동작 : 서비스에서 tab 미전달 → 매퍼 파라미터에 추가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→ 목록 복귀 시 탭 표시 오류 : 탭 class 동적 처리 누락 → ${tab} 기준 current</a:t>
            </a:r>
            <a:endParaRPr lang="en-US" sz="1600" dirty="0"/>
          </a:p>
        </p:txBody>
      </p:sp>
      <p:sp>
        <p:nvSpPr>
          <p:cNvPr id="7" name="card-hard-bg"/>
          <p:cNvSpPr/>
          <p:nvPr/>
        </p:nvSpPr>
        <p:spPr>
          <a:xfrm>
            <a:off x="4338218" y="1371600"/>
            <a:ext cx="3515258" cy="402336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-hard-dot"/>
          <p:cNvSpPr/>
          <p:nvPr/>
        </p:nvSpPr>
        <p:spPr>
          <a:xfrm>
            <a:off x="4566818" y="161848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card-hard-head"/>
          <p:cNvSpPr txBox="1"/>
          <p:nvPr/>
        </p:nvSpPr>
        <p:spPr>
          <a:xfrm>
            <a:off x="4886858" y="15087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어려웠던 점</a:t>
            </a:r>
            <a:endParaRPr lang="en-US" sz="1800" dirty="0"/>
          </a:p>
        </p:txBody>
      </p:sp>
      <p:sp>
        <p:nvSpPr>
          <p:cNvPr id="10" name="card-hard-body"/>
          <p:cNvSpPr txBox="1"/>
          <p:nvPr/>
        </p:nvSpPr>
        <p:spPr>
          <a:xfrm>
            <a:off x="4566818" y="2011680"/>
            <a:ext cx="31037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유사한 select 매퍼가 많아 실제 실행 쿼리를 찾기 어려움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파일별 변수명이 제각각 (seCd · tySeCd · ntcnYardTySeCd)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쿼리마다 작성 규칙(서브쿼리 · 페이징 구조)이 달라 조건 위치 판단이 헷갈림</a:t>
            </a:r>
            <a:endParaRPr lang="en-US" sz="1600" dirty="0"/>
          </a:p>
        </p:txBody>
      </p:sp>
      <p:sp>
        <p:nvSpPr>
          <p:cNvPr id="11" name="card-next-bg"/>
          <p:cNvSpPr/>
          <p:nvPr/>
        </p:nvSpPr>
        <p:spPr>
          <a:xfrm>
            <a:off x="8127797" y="1371600"/>
            <a:ext cx="3515258" cy="402336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-next-dot"/>
          <p:cNvSpPr/>
          <p:nvPr/>
        </p:nvSpPr>
        <p:spPr>
          <a:xfrm>
            <a:off x="8356397" y="161848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-next-head"/>
          <p:cNvSpPr txBox="1"/>
          <p:nvPr/>
        </p:nvSpPr>
        <p:spPr>
          <a:xfrm>
            <a:off x="8676437" y="15087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향후 개선</a:t>
            </a:r>
            <a:endParaRPr lang="en-US" sz="1800" dirty="0"/>
          </a:p>
        </p:txBody>
      </p:sp>
      <p:sp>
        <p:nvSpPr>
          <p:cNvPr id="14" name="card-next-body"/>
          <p:cNvSpPr txBox="1"/>
          <p:nvPr/>
        </p:nvSpPr>
        <p:spPr>
          <a:xfrm>
            <a:off x="8356397" y="2011680"/>
            <a:ext cx="31037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제목 키워드 대신 구분 코드(NTCN_YARD_KND_SE_CD)로 탭 분류 → 정확도 · 인덱스 활용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화면 이전글 · 다음글도 탭 기준으로 조회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계층별 파라미터 이름과 실행 쿼리 id 를 문서화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 Paging">
  <a:themeElements>
    <a:clrScheme name="Info Paging">
      <a:dk1>
        <a:srgbClr val="1B1F1F"/>
      </a:dk1>
      <a:lt1>
        <a:srgbClr val="FFFFFF"/>
      </a:lt1>
      <a:dk2>
        <a:srgbClr val="0F3D3E"/>
      </a:dk2>
      <a:lt2>
        <a:srgbClr val="EAF2F1"/>
      </a:lt2>
      <a:accent1>
        <a:srgbClr val="1F7A6D"/>
      </a:accent1>
      <a:accent2>
        <a:srgbClr val="E69A28"/>
      </a:accent2>
      <a:accent3>
        <a:srgbClr val="B5442F"/>
      </a:accent3>
      <a:accent4>
        <a:srgbClr val="2E6F95"/>
      </a:accent4>
      <a:accent5>
        <a:srgbClr val="6B7472"/>
      </a:accent5>
      <a:accent6>
        <a:srgbClr val="17292A"/>
      </a:accent6>
      <a:hlink>
        <a:srgbClr val="1F7A6D"/>
      </a:hlink>
      <a:folHlink>
        <a:srgbClr val="6B7472"/>
      </a:folHlink>
    </a:clrScheme>
    <a:fontScheme name="Info Pagi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재정정보 탭 페이징 개선 보고 (CmnController 방식)</dc:title>
  <dc:subject>PptxGenJS Presentation</dc:subject>
  <dc:creator>PptxGenJS</dc:creator>
  <cp:lastModifiedBy>PptxGenJS</cp:lastModifiedBy>
  <cp:revision>1</cp:revision>
  <dcterms:created xsi:type="dcterms:W3CDTF">2026-10-23T05:43:02Z</dcterms:created>
  <dcterms:modified xsi:type="dcterms:W3CDTF">2026-10-23T05:43:02Z</dcterms:modified>
</cp:coreProperties>
</file>